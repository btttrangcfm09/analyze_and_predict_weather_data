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83" r:id="rId4"/>
    <p:sldId id="285" r:id="rId5"/>
    <p:sldId id="289" r:id="rId6"/>
    <p:sldId id="284" r:id="rId7"/>
    <p:sldId id="286" r:id="rId8"/>
    <p:sldId id="280" r:id="rId9"/>
    <p:sldId id="287" r:id="rId10"/>
    <p:sldId id="288" r:id="rId11"/>
    <p:sldId id="26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8F5B27-04B9-0C44-0F60-4AB512B3F6C1}" v="21" dt="2026-06-21T02:01:39.920"/>
    <p1510:client id="{2167ABC7-C3C7-1B33-F02E-2941CE432C72}" v="400" dt="2026-06-21T01:51:30.444"/>
    <p1510:client id="{A4807CF1-8A4B-9057-0DD2-1C80AC495562}" v="12" dt="2026-06-21T03:54:44.811"/>
    <p1510:client id="{D104E36A-8487-0BEA-E591-F24FA3496F45}" v="1080" dt="2026-06-20T17:17:03.8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t>6/20/2026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8992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4"/>
          <p:cNvSpPr>
            <a:spLocks noGrp="1"/>
          </p:cNvSpPr>
          <p:nvPr>
            <p:ph type="title" hasCustomPrompt="1"/>
          </p:nvPr>
        </p:nvSpPr>
        <p:spPr>
          <a:xfrm>
            <a:off x="3788898" y="2461846"/>
            <a:ext cx="4614203" cy="1934307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5120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8"/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/>
              <a:t>Title 1:……………………………………..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18969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t>6/20/2026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7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/>
          <p:cNvSpPr txBox="1"/>
          <p:nvPr/>
        </p:nvSpPr>
        <p:spPr>
          <a:xfrm>
            <a:off x="176178" y="1595000"/>
            <a:ext cx="12228854" cy="848792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5000">
                <a:solidFill>
                  <a:srgbClr val="FF0000"/>
                </a:solidFill>
                <a:latin typeface="Lato"/>
                <a:ea typeface="Lato"/>
                <a:cs typeface="Lato"/>
              </a:rPr>
              <a:t>Phân </a:t>
            </a:r>
            <a:r>
              <a:rPr lang="en-US" sz="5000" err="1">
                <a:solidFill>
                  <a:srgbClr val="FF0000"/>
                </a:solidFill>
                <a:latin typeface="Lato"/>
                <a:ea typeface="Lato"/>
                <a:cs typeface="Lato"/>
              </a:rPr>
              <a:t>tích</a:t>
            </a:r>
            <a:r>
              <a:rPr lang="en-US" sz="5000">
                <a:solidFill>
                  <a:srgbClr val="FF0000"/>
                </a:solidFill>
                <a:latin typeface="Lato"/>
                <a:ea typeface="Lato"/>
                <a:cs typeface="Lato"/>
              </a:rPr>
              <a:t> </a:t>
            </a:r>
            <a:r>
              <a:rPr lang="en-US" sz="5000" err="1">
                <a:solidFill>
                  <a:srgbClr val="FF0000"/>
                </a:solidFill>
                <a:latin typeface="Lato"/>
                <a:ea typeface="Lato"/>
                <a:cs typeface="Lato"/>
              </a:rPr>
              <a:t>dữ</a:t>
            </a:r>
            <a:r>
              <a:rPr lang="en-US" sz="5000">
                <a:solidFill>
                  <a:srgbClr val="FF0000"/>
                </a:solidFill>
                <a:latin typeface="Lato"/>
                <a:ea typeface="Lato"/>
                <a:cs typeface="Lato"/>
              </a:rPr>
              <a:t> </a:t>
            </a:r>
            <a:r>
              <a:rPr lang="en-US" sz="5000" err="1">
                <a:solidFill>
                  <a:srgbClr val="FF0000"/>
                </a:solidFill>
                <a:latin typeface="Lato"/>
                <a:ea typeface="Lato"/>
                <a:cs typeface="Lato"/>
              </a:rPr>
              <a:t>liệu</a:t>
            </a:r>
            <a:r>
              <a:rPr lang="en-US" sz="5000">
                <a:solidFill>
                  <a:srgbClr val="FF0000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5000" err="1">
                <a:solidFill>
                  <a:srgbClr val="FF0000"/>
                </a:solidFill>
                <a:latin typeface="Lato"/>
                <a:ea typeface="Lato"/>
                <a:cs typeface="Lato"/>
              </a:rPr>
              <a:t>nhiệt</a:t>
            </a:r>
            <a:r>
              <a:rPr lang="en-US" sz="5000">
                <a:solidFill>
                  <a:srgbClr val="FF0000"/>
                </a:solidFill>
                <a:latin typeface="Lato"/>
                <a:ea typeface="Lato"/>
                <a:cs typeface="Lato"/>
              </a:rPr>
              <a:t> </a:t>
            </a:r>
            <a:r>
              <a:rPr lang="en-US" sz="5000" err="1">
                <a:solidFill>
                  <a:srgbClr val="FF0000"/>
                </a:solidFill>
                <a:latin typeface="Lato"/>
                <a:ea typeface="Lato"/>
                <a:cs typeface="Lato"/>
              </a:rPr>
              <a:t>độ</a:t>
            </a:r>
            <a:r>
              <a:rPr lang="en-US" sz="5000">
                <a:solidFill>
                  <a:srgbClr val="FF0000"/>
                </a:solidFill>
                <a:latin typeface="Lato"/>
                <a:ea typeface="Lato"/>
                <a:cs typeface="Lato"/>
              </a:rPr>
              <a:t> Việt Nam</a:t>
            </a:r>
            <a:endParaRPr lang="en-US" sz="5000" b="0">
              <a:solidFill>
                <a:srgbClr val="FF0000"/>
              </a:solidFill>
              <a:latin typeface="Lato"/>
              <a:ea typeface="Lato"/>
              <a:cs typeface="Lato"/>
            </a:endParaRPr>
          </a:p>
          <a:p>
            <a:endParaRPr lang="en-US" sz="5000">
              <a:solidFill>
                <a:srgbClr val="FF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" name="Title 6"/>
          <p:cNvSpPr txBox="1"/>
          <p:nvPr/>
        </p:nvSpPr>
        <p:spPr>
          <a:xfrm>
            <a:off x="386634" y="2567164"/>
            <a:ext cx="8960060" cy="3436474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600" b="0" dirty="0" err="1">
                <a:latin typeface="Lato"/>
                <a:ea typeface="Lato"/>
                <a:cs typeface="Lato"/>
              </a:rPr>
              <a:t>Mã</a:t>
            </a:r>
            <a:r>
              <a:rPr lang="en-US" sz="3600" b="0" dirty="0">
                <a:latin typeface="Lato"/>
                <a:ea typeface="Lato"/>
                <a:cs typeface="Lato"/>
              </a:rPr>
              <a:t> </a:t>
            </a:r>
            <a:r>
              <a:rPr lang="en-US" sz="3600" b="0" dirty="0" err="1">
                <a:latin typeface="Lato"/>
                <a:ea typeface="Lato"/>
                <a:cs typeface="Lato"/>
              </a:rPr>
              <a:t>lớp</a:t>
            </a:r>
            <a:r>
              <a:rPr lang="en-US" sz="3600" b="0" dirty="0">
                <a:latin typeface="Lato"/>
                <a:ea typeface="Lato"/>
                <a:cs typeface="Lato"/>
              </a:rPr>
              <a:t>: 166130</a:t>
            </a:r>
          </a:p>
          <a:p>
            <a:r>
              <a:rPr lang="en-US" sz="3600" b="0" dirty="0" err="1">
                <a:latin typeface="Lato"/>
                <a:ea typeface="Lato"/>
                <a:cs typeface="Lato"/>
              </a:rPr>
              <a:t>Nhóm</a:t>
            </a:r>
            <a:r>
              <a:rPr lang="en-US" sz="3600" b="0" dirty="0">
                <a:latin typeface="Lato"/>
                <a:ea typeface="Lato"/>
                <a:cs typeface="Lato"/>
              </a:rPr>
              <a:t> 19</a:t>
            </a:r>
          </a:p>
          <a:p>
            <a:pPr marL="571500" indent="-571500">
              <a:buFont typeface="Arial"/>
              <a:buChar char="•"/>
            </a:pPr>
            <a:r>
              <a:rPr lang="en-US" sz="3600" b="0">
                <a:latin typeface="Lato"/>
                <a:ea typeface="Lato"/>
                <a:cs typeface="Lato"/>
              </a:rPr>
              <a:t>Bùi Quốc Bảo - 20225601</a:t>
            </a:r>
          </a:p>
          <a:p>
            <a:pPr marL="571500" indent="-571500">
              <a:buFont typeface="Arial"/>
              <a:buChar char="•"/>
            </a:pPr>
            <a:r>
              <a:rPr lang="en-US" sz="3600" b="0">
                <a:latin typeface="Lato"/>
                <a:ea typeface="Lato"/>
                <a:cs typeface="Lato"/>
              </a:rPr>
              <a:t>Nguyễn Ngọc Lan - 20225730</a:t>
            </a:r>
          </a:p>
          <a:p>
            <a:pPr marL="571500" indent="-571500">
              <a:buFont typeface="Arial"/>
              <a:buChar char="•"/>
            </a:pPr>
            <a:r>
              <a:rPr lang="en-US" sz="3600" b="0">
                <a:latin typeface="Lato"/>
                <a:ea typeface="Lato"/>
                <a:cs typeface="Lato"/>
              </a:rPr>
              <a:t>Bùi Thu Trang - 20225938</a:t>
            </a:r>
          </a:p>
          <a:p>
            <a:pPr marL="571500" indent="-571500">
              <a:buFont typeface="Arial"/>
              <a:buChar char="•"/>
            </a:pPr>
            <a:r>
              <a:rPr lang="en-US" sz="3600" b="0">
                <a:latin typeface="Lato"/>
                <a:ea typeface="Lato"/>
                <a:cs typeface="Lato"/>
              </a:rPr>
              <a:t>Nguyễn Thị Huyền Trang - 20225674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Mục</a:t>
            </a:r>
            <a:r>
              <a:rPr lang="en-US"/>
              <a:t> </a:t>
            </a:r>
            <a:r>
              <a:rPr lang="en-US" err="1"/>
              <a:t>lục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04639" y="1047746"/>
            <a:ext cx="8934497" cy="403187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AutoNum type="arabicPeriod"/>
            </a:pPr>
            <a:r>
              <a:rPr lang="en-US" sz="3200" err="1">
                <a:latin typeface="Arial"/>
                <a:cs typeface="Arial"/>
              </a:rPr>
              <a:t>Bài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toán</a:t>
            </a:r>
            <a:endParaRPr lang="en-US" sz="320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3200">
                <a:latin typeface="Arial"/>
                <a:ea typeface="Calibri"/>
                <a:cs typeface="Arial"/>
              </a:rPr>
              <a:t>Các </a:t>
            </a:r>
            <a:r>
              <a:rPr lang="en-US" sz="3200" err="1">
                <a:latin typeface="Arial"/>
                <a:ea typeface="Calibri"/>
                <a:cs typeface="Arial"/>
              </a:rPr>
              <a:t>phương</a:t>
            </a:r>
            <a:r>
              <a:rPr lang="en-US" sz="3200">
                <a:latin typeface="Arial"/>
                <a:ea typeface="Calibri"/>
                <a:cs typeface="Arial"/>
              </a:rPr>
              <a:t> </a:t>
            </a:r>
            <a:r>
              <a:rPr lang="en-US" sz="3200" err="1">
                <a:latin typeface="Arial"/>
                <a:ea typeface="Calibri"/>
                <a:cs typeface="Arial"/>
              </a:rPr>
              <a:t>pháp</a:t>
            </a:r>
            <a:r>
              <a:rPr lang="en-US" sz="3200">
                <a:latin typeface="Arial"/>
                <a:ea typeface="Calibri"/>
                <a:cs typeface="Arial"/>
              </a:rPr>
              <a:t> </a:t>
            </a:r>
            <a:r>
              <a:rPr lang="en-US" sz="3200" err="1">
                <a:latin typeface="Arial"/>
                <a:ea typeface="Calibri"/>
                <a:cs typeface="Arial"/>
              </a:rPr>
              <a:t>nghiên</a:t>
            </a:r>
            <a:r>
              <a:rPr lang="en-US" sz="3200">
                <a:latin typeface="Arial"/>
                <a:ea typeface="Calibri"/>
                <a:cs typeface="Arial"/>
              </a:rPr>
              <a:t> </a:t>
            </a:r>
            <a:r>
              <a:rPr lang="en-US" sz="3200" err="1">
                <a:latin typeface="Arial"/>
                <a:ea typeface="Calibri"/>
                <a:cs typeface="Arial"/>
              </a:rPr>
              <a:t>cứu</a:t>
            </a:r>
            <a:r>
              <a:rPr lang="en-US" sz="3200">
                <a:latin typeface="Arial"/>
                <a:ea typeface="Calibri"/>
                <a:cs typeface="Arial"/>
              </a:rPr>
              <a:t> </a:t>
            </a:r>
            <a:r>
              <a:rPr lang="en-US" sz="3200" err="1">
                <a:latin typeface="Arial"/>
                <a:ea typeface="Calibri"/>
                <a:cs typeface="Arial"/>
              </a:rPr>
              <a:t>tương</a:t>
            </a:r>
            <a:r>
              <a:rPr lang="en-US" sz="3200">
                <a:latin typeface="Arial"/>
                <a:ea typeface="Calibri"/>
                <a:cs typeface="Arial"/>
              </a:rPr>
              <a:t> </a:t>
            </a:r>
            <a:r>
              <a:rPr lang="en-US" sz="3200" err="1">
                <a:latin typeface="Arial"/>
                <a:ea typeface="Calibri"/>
                <a:cs typeface="Arial"/>
              </a:rPr>
              <a:t>đương</a:t>
            </a:r>
            <a:endParaRPr lang="en-US" sz="3200">
              <a:latin typeface="Arial"/>
              <a:ea typeface="Calibri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3200" err="1">
                <a:latin typeface="Arial"/>
                <a:ea typeface="Calibri"/>
                <a:cs typeface="Arial"/>
              </a:rPr>
              <a:t>Mục</a:t>
            </a:r>
            <a:r>
              <a:rPr lang="en-US" sz="3200">
                <a:latin typeface="Arial"/>
                <a:ea typeface="Calibri"/>
                <a:cs typeface="Arial"/>
              </a:rPr>
              <a:t> </a:t>
            </a:r>
            <a:r>
              <a:rPr lang="en-US" sz="3200" err="1">
                <a:latin typeface="Arial"/>
                <a:ea typeface="Calibri"/>
                <a:cs typeface="Arial"/>
              </a:rPr>
              <a:t>tiêu</a:t>
            </a:r>
            <a:endParaRPr lang="en-US" sz="3200">
              <a:latin typeface="Arial"/>
              <a:ea typeface="Calibri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3200">
                <a:latin typeface="Arial"/>
                <a:ea typeface="Lato"/>
                <a:cs typeface="Arial"/>
              </a:rPr>
              <a:t>Thu </a:t>
            </a:r>
            <a:r>
              <a:rPr lang="en-US" sz="3200" err="1">
                <a:latin typeface="Arial"/>
                <a:ea typeface="Lato"/>
                <a:cs typeface="Arial"/>
              </a:rPr>
              <a:t>thập</a:t>
            </a:r>
            <a:r>
              <a:rPr lang="en-US" sz="3200">
                <a:latin typeface="Arial"/>
                <a:ea typeface="Lato"/>
                <a:cs typeface="Arial"/>
              </a:rPr>
              <a:t>, </a:t>
            </a:r>
            <a:r>
              <a:rPr lang="en-US" sz="3200" err="1">
                <a:latin typeface="Arial"/>
                <a:ea typeface="Lato"/>
                <a:cs typeface="Arial"/>
              </a:rPr>
              <a:t>tiền</a:t>
            </a:r>
            <a:r>
              <a:rPr lang="en-US" sz="3200">
                <a:latin typeface="Arial"/>
                <a:ea typeface="Lato"/>
                <a:cs typeface="Arial"/>
              </a:rPr>
              <a:t> </a:t>
            </a:r>
            <a:r>
              <a:rPr lang="en-US" sz="3200" err="1">
                <a:latin typeface="Arial"/>
                <a:ea typeface="Lato"/>
                <a:cs typeface="Arial"/>
              </a:rPr>
              <a:t>xử</a:t>
            </a:r>
            <a:r>
              <a:rPr lang="en-US" sz="3200">
                <a:latin typeface="Arial"/>
                <a:ea typeface="Lato"/>
                <a:cs typeface="Arial"/>
              </a:rPr>
              <a:t> </a:t>
            </a:r>
            <a:r>
              <a:rPr lang="en-US" sz="3200" err="1">
                <a:latin typeface="Arial"/>
                <a:ea typeface="Lato"/>
                <a:cs typeface="Arial"/>
              </a:rPr>
              <a:t>lý</a:t>
            </a:r>
            <a:r>
              <a:rPr lang="en-US" sz="3200">
                <a:latin typeface="Arial"/>
                <a:ea typeface="Lato"/>
                <a:cs typeface="Arial"/>
              </a:rPr>
              <a:t> </a:t>
            </a:r>
            <a:r>
              <a:rPr lang="en-US" sz="3200" err="1">
                <a:latin typeface="Arial"/>
                <a:ea typeface="Lato"/>
                <a:cs typeface="Arial"/>
              </a:rPr>
              <a:t>và</a:t>
            </a:r>
            <a:r>
              <a:rPr lang="en-US" sz="3200">
                <a:latin typeface="Arial"/>
                <a:ea typeface="Lato"/>
                <a:cs typeface="Arial"/>
              </a:rPr>
              <a:t> </a:t>
            </a:r>
            <a:r>
              <a:rPr lang="en-US" sz="3200" err="1">
                <a:latin typeface="Arial"/>
                <a:ea typeface="Lato"/>
                <a:cs typeface="Arial"/>
              </a:rPr>
              <a:t>lưu</a:t>
            </a:r>
            <a:r>
              <a:rPr lang="en-US" sz="3200">
                <a:latin typeface="Arial"/>
                <a:ea typeface="Lato"/>
                <a:cs typeface="Arial"/>
              </a:rPr>
              <a:t> </a:t>
            </a:r>
            <a:r>
              <a:rPr lang="en-US" sz="3200" err="1">
                <a:latin typeface="Arial"/>
                <a:ea typeface="Lato"/>
                <a:cs typeface="Arial"/>
              </a:rPr>
              <a:t>trữ</a:t>
            </a:r>
            <a:r>
              <a:rPr lang="en-US" sz="3200">
                <a:latin typeface="Arial"/>
                <a:ea typeface="Lato"/>
                <a:cs typeface="Arial"/>
              </a:rPr>
              <a:t> </a:t>
            </a:r>
            <a:r>
              <a:rPr lang="en-US" sz="3200" err="1">
                <a:latin typeface="Arial"/>
                <a:ea typeface="Lato"/>
                <a:cs typeface="Arial"/>
              </a:rPr>
              <a:t>dữ</a:t>
            </a:r>
            <a:r>
              <a:rPr lang="en-US" sz="3200">
                <a:latin typeface="Arial"/>
                <a:ea typeface="Lato"/>
                <a:cs typeface="Arial"/>
              </a:rPr>
              <a:t> </a:t>
            </a:r>
            <a:r>
              <a:rPr lang="en-US" sz="3200" err="1">
                <a:latin typeface="Arial"/>
                <a:ea typeface="Lato"/>
                <a:cs typeface="Arial"/>
              </a:rPr>
              <a:t>liệu</a:t>
            </a:r>
            <a:endParaRPr lang="en-US" sz="3200" err="1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3200" err="1">
                <a:latin typeface="Arial"/>
                <a:cs typeface="Arial"/>
              </a:rPr>
              <a:t>Mô</a:t>
            </a:r>
            <a:r>
              <a:rPr lang="en-US" sz="3200">
                <a:latin typeface="Arial"/>
                <a:cs typeface="Arial"/>
              </a:rPr>
              <a:t> </a:t>
            </a:r>
            <a:r>
              <a:rPr lang="en-US" sz="3200" err="1">
                <a:latin typeface="Arial"/>
                <a:cs typeface="Arial"/>
              </a:rPr>
              <a:t>hình</a:t>
            </a:r>
            <a:r>
              <a:rPr lang="en-US" sz="3200">
                <a:latin typeface="Arial"/>
                <a:cs typeface="Arial"/>
              </a:rPr>
              <a:t> </a:t>
            </a:r>
            <a:r>
              <a:rPr lang="en-US" sz="3200" err="1">
                <a:latin typeface="Arial"/>
                <a:cs typeface="Arial"/>
              </a:rPr>
              <a:t>kiến</a:t>
            </a:r>
            <a:r>
              <a:rPr lang="en-US" sz="3200">
                <a:latin typeface="Arial"/>
                <a:cs typeface="Arial"/>
              </a:rPr>
              <a:t> </a:t>
            </a:r>
            <a:r>
              <a:rPr lang="en-US" sz="3200" err="1">
                <a:latin typeface="Arial"/>
                <a:cs typeface="Arial"/>
              </a:rPr>
              <a:t>trúc</a:t>
            </a:r>
            <a:r>
              <a:rPr lang="en-US" sz="3200">
                <a:latin typeface="Arial"/>
                <a:cs typeface="Arial"/>
              </a:rPr>
              <a:t> </a:t>
            </a:r>
            <a:r>
              <a:rPr lang="en-US" sz="3200" err="1">
                <a:latin typeface="Arial"/>
                <a:cs typeface="Arial"/>
              </a:rPr>
              <a:t>hệ</a:t>
            </a:r>
            <a:r>
              <a:rPr lang="en-US" sz="3200">
                <a:latin typeface="Arial"/>
                <a:cs typeface="Arial"/>
              </a:rPr>
              <a:t> </a:t>
            </a:r>
            <a:r>
              <a:rPr lang="en-US" sz="3200" err="1">
                <a:latin typeface="Arial"/>
                <a:cs typeface="Arial"/>
              </a:rPr>
              <a:t>thống</a:t>
            </a:r>
            <a:endParaRPr lang="en-US" sz="320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3200" err="1">
                <a:latin typeface="Arial"/>
                <a:cs typeface="Arial"/>
              </a:rPr>
              <a:t>Đánh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giá</a:t>
            </a:r>
            <a:r>
              <a:rPr lang="en-US" sz="3200">
                <a:latin typeface="Arial"/>
                <a:cs typeface="Arial"/>
              </a:rPr>
              <a:t>, </a:t>
            </a:r>
            <a:r>
              <a:rPr lang="en-US" sz="3200" err="1">
                <a:latin typeface="Arial"/>
                <a:cs typeface="Arial"/>
              </a:rPr>
              <a:t>các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công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thức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đánh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giá</a:t>
            </a:r>
            <a:endParaRPr lang="en-US" sz="320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3200" err="1">
                <a:latin typeface="Arial"/>
                <a:cs typeface="Arial"/>
              </a:rPr>
              <a:t>Kết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quả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đánh</a:t>
            </a:r>
            <a:r>
              <a:rPr lang="en-US" sz="3200">
                <a:latin typeface="Arial"/>
                <a:cs typeface="Arial"/>
              </a:rPr>
              <a:t> </a:t>
            </a:r>
            <a:r>
              <a:rPr lang="en-US" sz="3200" err="1">
                <a:latin typeface="Arial"/>
                <a:cs typeface="Arial"/>
              </a:rPr>
              <a:t>giá</a:t>
            </a:r>
            <a:endParaRPr lang="en-US" sz="3200"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3200">
                <a:latin typeface="Arial"/>
                <a:cs typeface="Arial"/>
              </a:rPr>
              <a:t>Demo</a:t>
            </a:r>
            <a:endParaRPr lang="en-US" sz="3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C6F10-C2E7-520E-4925-AB1F9D84E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74766-3A47-A8DF-3FAF-61E32BDF5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1. </a:t>
            </a:r>
            <a:r>
              <a:rPr lang="en-US" err="1">
                <a:latin typeface="Lato"/>
                <a:ea typeface="Lato"/>
                <a:cs typeface="Lato"/>
              </a:rPr>
              <a:t>Bài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toán</a:t>
            </a:r>
            <a:r>
              <a:rPr lang="en-US">
                <a:latin typeface="Lato"/>
                <a:ea typeface="Lato"/>
                <a:cs typeface="Lato"/>
              </a:rPr>
              <a:t> 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6AED7B-2080-B3C1-AD86-8145B90A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2E1523-4A33-036A-8B0A-DDBFFFB76B22}"/>
              </a:ext>
            </a:extLst>
          </p:cNvPr>
          <p:cNvSpPr txBox="1"/>
          <p:nvPr/>
        </p:nvSpPr>
        <p:spPr>
          <a:xfrm>
            <a:off x="-2076" y="883411"/>
            <a:ext cx="11553661" cy="58631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Font typeface="Arial"/>
              <a:buChar char="•"/>
            </a:pP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Tầm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quan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trọng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Nhiệt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độ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là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một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trong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những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yếu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tố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khí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tượng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quan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trọng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ảnh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hưởng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trực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tiếp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đến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sản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xuất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nông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nghiệp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hoạt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động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du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lịch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và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đời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sống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sinh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hoạt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của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người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dân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. Trong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bối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cảnh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biến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đổi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khí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hậu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việc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theo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dõi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và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phân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tích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xu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hướng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nhiệt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độ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ngày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càng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trở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nên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cần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thiết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.</a:t>
            </a:r>
            <a:endParaRPr lang="vi-VN" sz="2500">
              <a:solidFill>
                <a:srgbClr val="2B2D31"/>
              </a:solidFill>
              <a:highlight>
                <a:srgbClr val="FFFFFF"/>
              </a:highlight>
              <a:latin typeface="Arial"/>
              <a:ea typeface="+mn-lt"/>
              <a:cs typeface="Arial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Khó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khăn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hiện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tại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:</a:t>
            </a:r>
            <a:endParaRPr lang="en-US" sz="2500">
              <a:ea typeface="Calibri"/>
              <a:cs typeface="Calibri"/>
            </a:endParaRPr>
          </a:p>
          <a:p>
            <a:pPr marL="800100" lvl="1" indent="-342900" algn="just">
              <a:buFont typeface="Courier New"/>
              <a:buChar char="o"/>
            </a:pP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Dữ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liệu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lớn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Dữ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liệu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khí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tượng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được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thập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liên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tục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theo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giờ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trong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nhiều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năm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tạo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ra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khối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lượng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dữ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liệu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rất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lớn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gây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khó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khăn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cho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việc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lưu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trữ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xử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lý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và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phân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tích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sz="2500">
              <a:ea typeface="+mn-lt"/>
              <a:cs typeface="+mn-lt"/>
            </a:endParaRPr>
          </a:p>
          <a:p>
            <a:pPr marL="800100" lvl="1" indent="-342900" algn="just">
              <a:buFont typeface="Courier New"/>
              <a:buChar char="o"/>
            </a:pP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Khó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khai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thác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dữ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liệu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Dữ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liệu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khí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tượng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thường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được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lưu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dưới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dạng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thô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và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phân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tán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khiến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người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dùng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khó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tiếp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cận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các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phân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tích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trực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quan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hoặc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theo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dõi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xu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hướng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nhiệt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độ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tại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vực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quan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tâm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.</a:t>
            </a:r>
          </a:p>
          <a:p>
            <a:pPr marL="342900" indent="-342900" algn="just">
              <a:buFont typeface="Arial"/>
              <a:buChar char="•"/>
            </a:pP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Vấn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đề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đặt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ra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: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Cần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một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hệ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thống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có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khả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năng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tự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động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thập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và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xử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lý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dữ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liệu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khí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tượng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,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trực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quan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hóa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xu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hướng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nhiệt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độ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theo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không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gian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và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thời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gian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, 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đồng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thời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ứng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dụng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mô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hình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AI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để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đưa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ra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dự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đoán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nhiệt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độ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ngày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tiếp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theo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tại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các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vị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000000"/>
                </a:solidFill>
                <a:ea typeface="+mn-lt"/>
                <a:cs typeface="+mn-lt"/>
              </a:rPr>
              <a:t>trí</a:t>
            </a:r>
            <a:r>
              <a:rPr lang="en-US" sz="2500">
                <a:solidFill>
                  <a:srgbClr val="000000"/>
                </a:solidFill>
                <a:ea typeface="+mn-lt"/>
                <a:cs typeface="+mn-lt"/>
              </a:rPr>
              <a:t> ở Việt Nam.</a:t>
            </a:r>
            <a:endParaRPr lang="en-US" sz="25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8094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D6088-4645-208D-C64F-92FE3F54E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F2DE-EAE7-87D5-381D-5867A7C3D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2. Các </a:t>
            </a:r>
            <a:r>
              <a:rPr lang="en-US" err="1">
                <a:latin typeface="Lato"/>
                <a:ea typeface="Lato"/>
                <a:cs typeface="Lato"/>
              </a:rPr>
              <a:t>phương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pháp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nghiên</a:t>
            </a:r>
            <a:r>
              <a:rPr lang="en-US">
                <a:latin typeface="Lato"/>
                <a:ea typeface="Lato"/>
                <a:cs typeface="Lato"/>
              </a:rPr>
              <a:t> </a:t>
            </a:r>
            <a:r>
              <a:rPr lang="en-US" err="1">
                <a:latin typeface="Lato"/>
                <a:ea typeface="Lato"/>
                <a:cs typeface="Lato"/>
              </a:rPr>
              <a:t>cứu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tương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đương</a:t>
            </a:r>
            <a:r>
              <a:rPr lang="en-US">
                <a:latin typeface="Lato"/>
                <a:ea typeface="Lato"/>
                <a:cs typeface="Lato"/>
              </a:rPr>
              <a:t> 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21797-71EF-F10B-B943-1ED1E877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CF15DA6-5BAD-68B3-BE8D-F05EFF99E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229585"/>
              </p:ext>
            </p:extLst>
          </p:nvPr>
        </p:nvGraphicFramePr>
        <p:xfrm>
          <a:off x="529771" y="972457"/>
          <a:ext cx="11214057" cy="200603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3375898">
                  <a:extLst>
                    <a:ext uri="{9D8B030D-6E8A-4147-A177-3AD203B41FA5}">
                      <a16:colId xmlns:a16="http://schemas.microsoft.com/office/drawing/2014/main" val="3460976054"/>
                    </a:ext>
                  </a:extLst>
                </a:gridCol>
                <a:gridCol w="3399261">
                  <a:extLst>
                    <a:ext uri="{9D8B030D-6E8A-4147-A177-3AD203B41FA5}">
                      <a16:colId xmlns:a16="http://schemas.microsoft.com/office/drawing/2014/main" val="3484418122"/>
                    </a:ext>
                  </a:extLst>
                </a:gridCol>
                <a:gridCol w="4438898">
                  <a:extLst>
                    <a:ext uri="{9D8B030D-6E8A-4147-A177-3AD203B41FA5}">
                      <a16:colId xmlns:a16="http://schemas.microsoft.com/office/drawing/2014/main" val="15203244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Phương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pháp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Ưu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điểm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Nhược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điểm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1151122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Dự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báo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thời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tiết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số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(NWP - WRF)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Độ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chính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xác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vật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lý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cao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,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dựa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trên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các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phương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trình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động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lực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học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chất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lưu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.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Chi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phí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tính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toán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cực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lớn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,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thời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gian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chạy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mô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phỏng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rất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chậm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,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yêu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cầu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siêu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máy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tính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.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349016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Hồi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quy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học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máy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truyền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thống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(Linear,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XGBoost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)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Huấn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luyện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nhanh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,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cấu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trúc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mô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hình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đơn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giản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.</a:t>
                      </a:r>
                    </a:p>
                  </a:txBody>
                  <a:tcPr marL="114300" marR="114300" marT="57150" marB="5715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75"/>
                        </a:lnSpc>
                        <a:buNone/>
                      </a:pP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Khó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bắt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bài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được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các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mối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quan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hệ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phi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tuyến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dài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hạn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;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có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xu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hướng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san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phẳng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(smooth)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các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đỉnh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nhiệt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độ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ngày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/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đêm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khi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dự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</a:t>
                      </a:r>
                      <a:r>
                        <a:rPr lang="en-US" sz="1800" err="1">
                          <a:solidFill>
                            <a:srgbClr val="2B2D31"/>
                          </a:solidFill>
                          <a:effectLst/>
                        </a:rPr>
                        <a:t>báo</a:t>
                      </a:r>
                      <a:r>
                        <a:rPr lang="en-US" sz="1800">
                          <a:solidFill>
                            <a:srgbClr val="2B2D31"/>
                          </a:solidFill>
                          <a:effectLst/>
                        </a:rPr>
                        <a:t> xa.</a:t>
                      </a:r>
                    </a:p>
                  </a:txBody>
                  <a:tcPr marL="114300" marR="114300" marT="57150" marB="57150" anchor="ctr"/>
                </a:tc>
                <a:extLst>
                  <a:ext uri="{0D108BD9-81ED-4DB2-BD59-A6C34878D82A}">
                    <a16:rowId xmlns:a16="http://schemas.microsoft.com/office/drawing/2014/main" val="1032210115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1DC9075-3B76-863C-0101-C9C4F01323D9}"/>
              </a:ext>
            </a:extLst>
          </p:cNvPr>
          <p:cNvSpPr txBox="1"/>
          <p:nvPr/>
        </p:nvSpPr>
        <p:spPr>
          <a:xfrm>
            <a:off x="341086" y="3015343"/>
            <a:ext cx="11517085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5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Nhóm</a:t>
            </a:r>
            <a:r>
              <a:rPr lang="en-US" sz="25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đề</a:t>
            </a:r>
            <a:r>
              <a:rPr lang="en-US" sz="25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xuất</a:t>
            </a:r>
            <a:r>
              <a:rPr lang="en-US" sz="25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 sz="25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dụng</a:t>
            </a:r>
            <a:r>
              <a:rPr lang="en-US" sz="25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25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25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b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SEQ2SEQ ENCODER-DECODER LSTM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điểm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bảo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toàn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đỉnh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dao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đêm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nhờ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cơ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chế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truyền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trạng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thái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ẩn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nạp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đặc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tương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lai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đã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biết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trước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Nhưng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cấu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trúc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phức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tạp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hơn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yêu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cầu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quy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trình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chuẩn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hóa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đầu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khắt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khe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28600" indent="-228600" algn="l">
              <a:buFont typeface=""/>
              <a:buChar char="•"/>
            </a:pPr>
            <a:r>
              <a:rPr lang="en-US" sz="2500" b="1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Điểm</a:t>
            </a:r>
            <a:r>
              <a:rPr lang="en-US" sz="2500" b="1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cải</a:t>
            </a:r>
            <a:r>
              <a:rPr lang="en-US" sz="2500" b="1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tiến</a:t>
            </a:r>
            <a:r>
              <a:rPr lang="en-US" sz="2500" b="1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của</a:t>
            </a:r>
            <a:r>
              <a:rPr lang="en-US" sz="2500" b="1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hệ</a:t>
            </a:r>
            <a:r>
              <a:rPr lang="en-US" sz="2500" b="1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1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thống</a:t>
            </a:r>
            <a:r>
              <a:rPr lang="en-US" sz="2500" b="1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Tích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hợp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đặc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khí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hậu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tháng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monthly_mean_temperature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làm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mốc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tham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chiếu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giúp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biên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dao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nhiệt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thực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tế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mùa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cho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từng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vùng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tọa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cụ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thể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500">
              <a:latin typeface="Calibri"/>
              <a:ea typeface="Calibri"/>
              <a:cs typeface="Calibri"/>
            </a:endParaRPr>
          </a:p>
          <a:p>
            <a:pPr algn="ctr"/>
            <a:endParaRPr lang="en-US" sz="25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31199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71038-D77E-6DE4-B14C-90DB15EF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AECE4-60CA-DFC4-7D45-29565450D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3. </a:t>
            </a:r>
            <a:r>
              <a:rPr lang="en-US" err="1">
                <a:latin typeface="Lato"/>
                <a:ea typeface="Lato"/>
                <a:cs typeface="Lato"/>
              </a:rPr>
              <a:t>Mục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tiêu</a:t>
            </a:r>
            <a:endParaRPr lang="en-US" err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35BF07-3DF8-070A-BFC5-B8EC981A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1EA35-8B6C-5F6E-BC46-6DD44087878A}"/>
              </a:ext>
            </a:extLst>
          </p:cNvPr>
          <p:cNvSpPr txBox="1"/>
          <p:nvPr/>
        </p:nvSpPr>
        <p:spPr>
          <a:xfrm>
            <a:off x="139214" y="875031"/>
            <a:ext cx="11366756" cy="54784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1. Thu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thập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và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xử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lý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dữ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liệu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800100" lvl="1" indent="-342900" algn="just">
              <a:buFont typeface="Courier New"/>
              <a:buChar char="o"/>
            </a:pP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Thu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thập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lưới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từ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nguồn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Copernicus ERA5,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đổi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từ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dạng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GRIB sang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DataFrame</a:t>
            </a:r>
            <a:r>
              <a:rPr lang="en-US" sz="2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lọc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không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địa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lý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của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Việt Nam (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dụng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GeoPackage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tối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hóa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trữ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xử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lý</a:t>
            </a:r>
            <a:r>
              <a:rPr lang="en-US" sz="25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just"/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2. 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Dự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báo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nhiệt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độ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bằng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AI</a:t>
            </a:r>
          </a:p>
          <a:p>
            <a:pPr marL="800100" lvl="1" indent="-342900" algn="just">
              <a:buFont typeface="Courier New"/>
              <a:buChar char="o"/>
            </a:pP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Huấn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luyện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triển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khai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dự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báo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chuỗi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nhiệt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168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giờ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(7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kế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tiếp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tại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tọa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đất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liền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Việt Nam.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dụng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kiến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trúc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Seq2Seq Encoder-Decoder LSTM,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khả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năng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học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mẫu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phức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tạp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chu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kỳ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ngày-đêm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chuỗi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50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3. 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Trực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quan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hóa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và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hỗ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trợ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người</a:t>
            </a:r>
            <a:r>
              <a:rPr lang="en-US" sz="2500" b="1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500" b="1" err="1">
                <a:solidFill>
                  <a:srgbClr val="000000"/>
                </a:solidFill>
                <a:ea typeface="+mn-lt"/>
                <a:cs typeface="+mn-lt"/>
              </a:rPr>
              <a:t>dùng</a:t>
            </a:r>
            <a:endParaRPr lang="en-US" sz="2500" b="1">
              <a:solidFill>
                <a:srgbClr val="000000"/>
              </a:solidFill>
              <a:ea typeface="+mn-lt"/>
              <a:cs typeface="+mn-lt"/>
            </a:endParaRPr>
          </a:p>
          <a:p>
            <a:pPr lvl="1" algn="just"/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Phát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triển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một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Dashboard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tương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tác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dụng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Streamlit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phép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người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dùng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Phân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tích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trực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quan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hóa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nhiệt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lịch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tháng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năm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628650" lvl="1" indent="-171450" algn="just">
              <a:buFont typeface="Courier New"/>
              <a:buChar char="o"/>
            </a:pP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Lựa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chọn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tỉnh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thành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phố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nhận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dự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báo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nhiệt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chi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tiết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cho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7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tới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từ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AI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một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cách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thuận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 </a:t>
            </a: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tiện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0455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4519A-087D-F72F-C77F-50394279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DA352-CD8A-B8F0-FFE9-8E415DE15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4. Thu </a:t>
            </a:r>
            <a:r>
              <a:rPr lang="en-US" err="1">
                <a:latin typeface="Lato"/>
                <a:ea typeface="Lato"/>
                <a:cs typeface="Lato"/>
              </a:rPr>
              <a:t>thập</a:t>
            </a:r>
            <a:r>
              <a:rPr lang="en-US">
                <a:latin typeface="Lato"/>
                <a:ea typeface="Lato"/>
                <a:cs typeface="Lato"/>
              </a:rPr>
              <a:t>, </a:t>
            </a:r>
            <a:r>
              <a:rPr lang="en-US" err="1">
                <a:latin typeface="Lato"/>
                <a:ea typeface="Lato"/>
                <a:cs typeface="Lato"/>
              </a:rPr>
              <a:t>tiền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xử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lý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và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lưu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trữ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dữ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liệu</a:t>
            </a:r>
            <a:r>
              <a:rPr lang="en-US">
                <a:latin typeface="Lato"/>
                <a:ea typeface="Lato"/>
                <a:cs typeface="Lato"/>
              </a:rPr>
              <a:t> 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AF46A-A49E-85FD-13B2-3B03981A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E422E-FCF7-7B69-562F-333C14879442}"/>
              </a:ext>
            </a:extLst>
          </p:cNvPr>
          <p:cNvSpPr txBox="1"/>
          <p:nvPr/>
        </p:nvSpPr>
        <p:spPr>
          <a:xfrm>
            <a:off x="85010" y="1006783"/>
            <a:ext cx="12105204" cy="68634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1. Thu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thập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 :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Nguồn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Kho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tái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phân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tích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khí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hậu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ERA5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từ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Copernicus Climate Change Service (CDS).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Phương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thức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Truy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vấn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tự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qua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cdsapi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tải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dạng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GRIB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từng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giờ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 algn="just">
              <a:buFont typeface="Arial"/>
              <a:buChar char="•"/>
            </a:pP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Phạm vi: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Khoanh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vùng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địa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lý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bao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phủ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toàn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bộ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lãnh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thổ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Việt Nam ([24, 102, 8, 112]).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2000" b="1">
                <a:latin typeface="Calibri"/>
                <a:ea typeface="Calibri"/>
                <a:cs typeface="Calibri"/>
              </a:rPr>
              <a:t>2. </a:t>
            </a:r>
            <a:r>
              <a:rPr lang="en-US" sz="2000" b="1" err="1">
                <a:latin typeface="Calibri"/>
                <a:ea typeface="Calibri"/>
                <a:cs typeface="Calibri"/>
              </a:rPr>
              <a:t>Tiền</a:t>
            </a:r>
            <a:r>
              <a:rPr lang="en-US" sz="2000" b="1"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latin typeface="Calibri"/>
                <a:ea typeface="Calibri"/>
                <a:cs typeface="Calibri"/>
              </a:rPr>
              <a:t>xử</a:t>
            </a:r>
            <a:r>
              <a:rPr lang="en-US" sz="2000" b="1"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latin typeface="Calibri"/>
                <a:ea typeface="Calibri"/>
                <a:cs typeface="Calibri"/>
              </a:rPr>
              <a:t>lý</a:t>
            </a:r>
            <a:r>
              <a:rPr lang="en-US" sz="2000" b="1"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latin typeface="Calibri"/>
                <a:ea typeface="Calibri"/>
                <a:cs typeface="Calibri"/>
              </a:rPr>
              <a:t>và</a:t>
            </a:r>
            <a:r>
              <a:rPr lang="en-US" sz="2000" b="1"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latin typeface="Calibri"/>
                <a:ea typeface="Calibri"/>
                <a:cs typeface="Calibri"/>
              </a:rPr>
              <a:t>lọc</a:t>
            </a:r>
            <a:r>
              <a:rPr lang="en-US" sz="2000" b="1"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latin typeface="Calibri"/>
                <a:ea typeface="Calibri"/>
                <a:cs typeface="Calibri"/>
              </a:rPr>
              <a:t>không</a:t>
            </a:r>
            <a:r>
              <a:rPr lang="en-US" sz="2000" b="1"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latin typeface="Calibri"/>
                <a:ea typeface="Calibri"/>
                <a:cs typeface="Calibri"/>
              </a:rPr>
              <a:t>gian</a:t>
            </a:r>
            <a:endParaRPr lang="en-US" sz="2000" b="1">
              <a:latin typeface="Calibri"/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Lọc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đa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giác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dụng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bản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đồ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vector GADM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xác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điểm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lưới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tọa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(latitude, longitude)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nằm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ranh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giới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đất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liền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Việt Nam,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đến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vùng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đệm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duyên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hải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(buffer(0.05)).</a:t>
            </a:r>
            <a:endParaRPr lang="en-US" sz="2000" b="1">
              <a:solidFill>
                <a:srgbClr val="2B2D31"/>
              </a:solidFill>
              <a:latin typeface="Calibri"/>
              <a:ea typeface="Calibri"/>
              <a:cs typeface="Calibri"/>
            </a:endParaRPr>
          </a:p>
          <a:p>
            <a:pPr algn="just">
              <a:buFont typeface="Arial"/>
              <a:buChar char="•"/>
            </a:pP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Chiến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lược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tối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RAM:</a:t>
            </a:r>
          </a:p>
          <a:p>
            <a:pPr lvl="1" algn="just">
              <a:buFont typeface="Arial"/>
              <a:buChar char="•"/>
            </a:pP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1: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Chỉ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đọc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2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tọa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thực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hiện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lọc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không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lvl="1" algn="just">
              <a:buFont typeface="Arial"/>
              <a:buChar char="•"/>
            </a:pP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2: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Chỉ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tải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tiết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chi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tiết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của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tọa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hợp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lệ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bằng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cơ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chế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Parquet Filter.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171450" indent="-171450" algn="just">
              <a:buFont typeface="Arial,Sans-Serif"/>
              <a:buChar char="•"/>
            </a:pP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Feature Engineering: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742950" lvl="1" indent="-285750" algn="just">
              <a:buFont typeface="Arial,Sans-Serif"/>
              <a:buChar char="•"/>
            </a:pP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Nội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suy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tuyến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xử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lý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giá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trị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khuyết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742950" lvl="1" indent="-285750" algn="just">
              <a:buFont typeface="Arial,Sans-Serif"/>
              <a:buChar char="•"/>
            </a:pP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toán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đặc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quá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khứ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(Lags, Rolling Means),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khí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hậu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tháng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mã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hóa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chu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kỳ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(sin/cos).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3. Lưu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trữ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Định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dạng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Apache Parquet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–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trữ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dạng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cột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Tối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ưu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kiểu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Chuyển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đổi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toàn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bộ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số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thực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từ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float64 sang float32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giảm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50% dung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lượng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trữ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bộ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nhớ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dụng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algn="just"/>
            <a:endParaRPr lang="en-US" sz="2000">
              <a:latin typeface="Calibri"/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endParaRPr lang="en-US" sz="2000" b="1">
              <a:solidFill>
                <a:srgbClr val="2B2D31"/>
              </a:solidFill>
              <a:latin typeface="Calibri"/>
              <a:ea typeface="Calibri"/>
              <a:cs typeface="Calibri"/>
            </a:endParaRPr>
          </a:p>
          <a:p>
            <a:pPr marL="171450" indent="-171450" algn="just">
              <a:buFont typeface="Arial"/>
              <a:buChar char="•"/>
            </a:pPr>
            <a:endParaRPr lang="en-US" sz="2000" b="1">
              <a:solidFill>
                <a:srgbClr val="2B2D31"/>
              </a:solidFill>
              <a:latin typeface="Calibri"/>
              <a:ea typeface="Calibri"/>
              <a:cs typeface="Calibri"/>
            </a:endParaRPr>
          </a:p>
          <a:p>
            <a:pPr marL="742950" lvl="1" indent="-285750" algn="just">
              <a:buFont typeface="Arial"/>
              <a:buChar char="•"/>
            </a:pPr>
            <a:endParaRPr lang="en-US" sz="2000">
              <a:solidFill>
                <a:srgbClr val="2B2D31"/>
              </a:solidFill>
              <a:latin typeface="Calibri"/>
              <a:ea typeface="Calibri"/>
              <a:cs typeface="Calibri"/>
            </a:endParaRPr>
          </a:p>
          <a:p>
            <a:pPr algn="just"/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5554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3DC17F-B026-ED95-2F2D-831F9F57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7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04A676-6432-C465-4893-8A4480B6C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91440" tIns="45720" rIns="91440" bIns="45720" anchor="t">
            <a:normAutofit fontScale="90000"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5.Mô </a:t>
            </a:r>
            <a:r>
              <a:rPr lang="en-US" err="1">
                <a:latin typeface="Lato"/>
                <a:ea typeface="Lato"/>
                <a:cs typeface="Lato"/>
              </a:rPr>
              <a:t>hình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kiến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trúc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hệ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thống</a:t>
            </a:r>
            <a:endParaRPr lang="en-US">
              <a:latin typeface="Lato"/>
              <a:ea typeface="Lato"/>
              <a:cs typeface="Lato"/>
            </a:endParaRPr>
          </a:p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D2E786-7558-B121-5819-8D4B3878CD6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5365" y="1066101"/>
            <a:ext cx="12066071" cy="49091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Input: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Gồm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2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thành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phần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dữ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liệu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đã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được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chuẩn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hóa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qua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MinMaxScaler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về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khoảng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[0,1]: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Chuỗi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quá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khứ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(Encoder Input - X):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Kích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thước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(Batch, 168,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N_features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lvl="2"/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dài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168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giờ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(7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trước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).</a:t>
            </a:r>
            <a:endParaRPr lang="en-US">
              <a:latin typeface="Calibri"/>
              <a:ea typeface="Calibri"/>
              <a:cs typeface="Calibri"/>
            </a:endParaRPr>
          </a:p>
          <a:p>
            <a:pPr lvl="2"/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 </a:t>
            </a:r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thuộc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tính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N_features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): 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Nhiệt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thực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tế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ẩm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hướng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tốc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gió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lượng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mưa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áp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suất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phủ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mây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kèm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đặc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trưng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trễ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(Lags)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trung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bình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trượt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(Rolling).</a:t>
            </a:r>
            <a:endParaRPr lang="en-US"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Đặc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trưng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lịch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trình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tương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lai (Decoder Exogenous Input -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Yfeat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Kích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thước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(Batch, 168,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N_exog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</a:t>
            </a:r>
            <a:endParaRPr lang="en-US" sz="2000">
              <a:latin typeface="Calibri"/>
              <a:ea typeface="Calibri"/>
              <a:cs typeface="Calibri"/>
            </a:endParaRPr>
          </a:p>
          <a:p>
            <a:pPr lvl="2"/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dài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168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giờ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tiếp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theo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cần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dự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báo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lvl="2"/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Các </a:t>
            </a:r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thuộc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tính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biết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i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trước</a:t>
            </a:r>
            <a:r>
              <a:rPr lang="en-US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N_exog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): 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Tín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hiệu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chu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kỳ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gian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lượng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giác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hour_sin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/cos, 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month_sin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/cos, 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day_of_year_sin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/cos)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đặc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trưng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khí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hậu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tháng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lịch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sử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tại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tọa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đó</a:t>
            </a:r>
            <a:r>
              <a:rPr lang="en-US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b="1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chính</a:t>
            </a:r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</a:t>
            </a:r>
          </a:p>
          <a:p>
            <a:pPr lvl="1"/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Encoder LSTM: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Nhận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X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→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tạo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trạng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thái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ẩn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ngữ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cảnh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(h168,c168)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1"/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Decoder LSTM: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Nhận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(</a:t>
            </a:r>
            <a:r>
              <a:rPr lang="en-US" sz="2000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168 ,</a:t>
            </a:r>
            <a:r>
              <a:rPr lang="en-US" sz="2000" i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168 )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làm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trạng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thái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khởi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đầu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nạp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liên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tục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Yfeat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để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dự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báo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từng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bước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2000" b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Output (Y):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Chuỗi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dự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báo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nhiệt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168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giờ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tới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Kích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0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thước</a:t>
            </a:r>
            <a:r>
              <a:rPr lang="en-US" sz="20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(Batch, 168).</a:t>
            </a:r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981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FC186-B976-432E-9688-6AB8A6D3F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07DB6-F9A6-1377-8EA1-9F2AF3AF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500">
                <a:latin typeface="Calibri"/>
                <a:ea typeface="Calibri"/>
                <a:cs typeface="Calibri"/>
              </a:rPr>
              <a:t>6. </a:t>
            </a:r>
            <a:r>
              <a:rPr lang="en-US" sz="2500" err="1">
                <a:latin typeface="Calibri"/>
                <a:ea typeface="Calibri"/>
                <a:cs typeface="Calibri"/>
              </a:rPr>
              <a:t>Đánh</a:t>
            </a:r>
            <a:r>
              <a:rPr lang="en-US" sz="2500"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latin typeface="Calibri"/>
                <a:ea typeface="Calibri"/>
                <a:cs typeface="Calibri"/>
              </a:rPr>
              <a:t>giá</a:t>
            </a:r>
            <a:r>
              <a:rPr lang="en-US" sz="2500">
                <a:latin typeface="Calibri"/>
                <a:ea typeface="Calibri"/>
                <a:cs typeface="Calibri"/>
              </a:rPr>
              <a:t>: Các </a:t>
            </a:r>
            <a:r>
              <a:rPr lang="en-US" sz="2500" err="1">
                <a:latin typeface="Calibri"/>
                <a:ea typeface="Calibri"/>
                <a:cs typeface="Calibri"/>
              </a:rPr>
              <a:t>công</a:t>
            </a:r>
            <a:r>
              <a:rPr lang="en-US" sz="2500"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latin typeface="Calibri"/>
                <a:ea typeface="Calibri"/>
                <a:cs typeface="Calibri"/>
              </a:rPr>
              <a:t>thức</a:t>
            </a:r>
            <a:r>
              <a:rPr lang="en-US" sz="2500"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latin typeface="Calibri"/>
                <a:ea typeface="Calibri"/>
                <a:cs typeface="Calibri"/>
              </a:rPr>
              <a:t>đánh</a:t>
            </a:r>
            <a:r>
              <a:rPr lang="en-US" sz="2500"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latin typeface="Calibri"/>
                <a:ea typeface="Calibri"/>
                <a:cs typeface="Calibri"/>
              </a:rPr>
              <a:t>giá</a:t>
            </a:r>
            <a:endParaRPr lang="en-US" sz="250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1962F2-5441-FF1B-8A81-6246D3744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63DA54-18ED-2720-5BE9-31F808C2720B}"/>
              </a:ext>
            </a:extLst>
          </p:cNvPr>
          <p:cNvSpPr txBox="1"/>
          <p:nvPr/>
        </p:nvSpPr>
        <p:spPr>
          <a:xfrm>
            <a:off x="339234" y="942334"/>
            <a:ext cx="11366756" cy="461664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Hệ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thống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sử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dụng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3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chỉ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số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chính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để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đo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lường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sai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số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dự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báo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trên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tập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kiểm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thử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độc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lập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(Test Set).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Toàn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bộ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các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chỉ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số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được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tính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toán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trên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đơn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vị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vật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lý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gốc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 (°C)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sau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khi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đã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thực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hiện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phép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biến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đổi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ngược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chuẩn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hóa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:</a:t>
            </a:r>
          </a:p>
          <a:p>
            <a:pPr marL="457200" indent="-457200" algn="just">
              <a:buAutoNum type="arabicPeriod"/>
            </a:pPr>
            <a:r>
              <a:rPr lang="en-US" sz="2200">
                <a:ea typeface="+mn-lt"/>
                <a:cs typeface="+mn-lt"/>
              </a:rPr>
              <a:t>RMSE (Root Mean Square Error - Sai </a:t>
            </a:r>
            <a:r>
              <a:rPr lang="en-US" sz="2200" err="1">
                <a:ea typeface="+mn-lt"/>
                <a:cs typeface="+mn-lt"/>
              </a:rPr>
              <a:t>số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bình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phương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trung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bình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căn</a:t>
            </a:r>
            <a:r>
              <a:rPr lang="en-US" sz="2200">
                <a:ea typeface="+mn-lt"/>
                <a:cs typeface="+mn-lt"/>
              </a:rPr>
              <a:t>):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Đưa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sai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số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về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cùng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đơn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vị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vật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lý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ban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đầu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để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dễ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đối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chiếu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.</a:t>
            </a:r>
          </a:p>
          <a:p>
            <a:pPr marL="342900" indent="-342900" algn="just">
              <a:buAutoNum type="arabicPeriod"/>
            </a:pPr>
            <a:endParaRPr lang="en-US" sz="2500">
              <a:latin typeface="Calibri"/>
              <a:ea typeface="Calibri"/>
              <a:cs typeface="Calibri"/>
            </a:endParaRPr>
          </a:p>
          <a:p>
            <a:pPr marL="342900" indent="-342900" algn="just">
              <a:buAutoNum type="arabicPeriod"/>
            </a:pPr>
            <a:endParaRPr lang="en-US" sz="2200">
              <a:ea typeface="+mn-lt"/>
              <a:cs typeface="+mn-lt"/>
            </a:endParaRPr>
          </a:p>
          <a:p>
            <a:pPr marL="342900" indent="-342900" algn="just">
              <a:buAutoNum type="arabicPeriod"/>
            </a:pPr>
            <a:endParaRPr lang="en-US" sz="2200">
              <a:ea typeface="+mn-lt"/>
              <a:cs typeface="+mn-lt"/>
            </a:endParaRPr>
          </a:p>
          <a:p>
            <a:pPr marL="342900" indent="-342900" algn="just">
              <a:buAutoNum type="arabicPeriod"/>
            </a:pPr>
            <a:r>
              <a:rPr lang="en-US" sz="2200">
                <a:ea typeface="+mn-lt"/>
                <a:cs typeface="+mn-lt"/>
              </a:rPr>
              <a:t>MAE (Mean Absolute Error - Sai </a:t>
            </a:r>
            <a:r>
              <a:rPr lang="en-US" sz="2200" err="1">
                <a:ea typeface="+mn-lt"/>
                <a:cs typeface="+mn-lt"/>
              </a:rPr>
              <a:t>số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tuyệt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đối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trung</a:t>
            </a:r>
            <a:r>
              <a:rPr lang="en-US" sz="2200">
                <a:ea typeface="+mn-lt"/>
                <a:cs typeface="+mn-lt"/>
              </a:rPr>
              <a:t> </a:t>
            </a:r>
            <a:r>
              <a:rPr lang="en-US" sz="2200" err="1">
                <a:ea typeface="+mn-lt"/>
                <a:cs typeface="+mn-lt"/>
              </a:rPr>
              <a:t>bình</a:t>
            </a:r>
            <a:r>
              <a:rPr lang="en-US" sz="2200">
                <a:ea typeface="+mn-lt"/>
                <a:cs typeface="+mn-lt"/>
              </a:rPr>
              <a:t>): 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Cho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biết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mức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độ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lệch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trung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bình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thực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tế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của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dự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báo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(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tính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bằng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độ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ea typeface="+mn-lt"/>
                <a:cs typeface="+mn-lt"/>
              </a:rPr>
              <a:t> C)</a:t>
            </a:r>
          </a:p>
          <a:p>
            <a:pPr marL="342900" indent="-342900" algn="just">
              <a:buAutoNum type="arabicPeriod"/>
            </a:pPr>
            <a:endParaRPr lang="en-US" sz="2500">
              <a:solidFill>
                <a:srgbClr val="2B2D31"/>
              </a:solidFill>
              <a:highlight>
                <a:srgbClr val="FFFFFF"/>
              </a:highlight>
              <a:ea typeface="+mn-lt"/>
              <a:cs typeface="+mn-lt"/>
            </a:endParaRPr>
          </a:p>
          <a:p>
            <a:pPr marL="342900" indent="-342900" algn="just">
              <a:buAutoNum type="arabicPeriod"/>
            </a:pP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Sai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số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bình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phương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trung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bình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(Mean Squared Error - MSE): Phạt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nặng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</a:t>
            </a:r>
            <a:r>
              <a:rPr lang="en-US" sz="2500" err="1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các</a:t>
            </a:r>
            <a:r>
              <a:rPr lang="en-US" sz="2500">
                <a:solidFill>
                  <a:srgbClr val="2B2D31"/>
                </a:solidFill>
                <a:highlight>
                  <a:srgbClr val="FFFFFF"/>
                </a:highlight>
                <a:latin typeface="Calibri"/>
                <a:ea typeface="Calibri"/>
                <a:cs typeface="Calibri"/>
              </a:rPr>
              <a:t> outliers</a:t>
            </a:r>
            <a:endParaRPr lang="en-US" sz="2500">
              <a:latin typeface="Calibri"/>
              <a:ea typeface="Calibri"/>
              <a:cs typeface="Calibri"/>
            </a:endParaRPr>
          </a:p>
        </p:txBody>
      </p:sp>
      <p:pic>
        <p:nvPicPr>
          <p:cNvPr id="3" name="Hình ảnh 2" descr="Ảnh có chứa Phông chữ, văn bản, hàng, biểu đồ&#10;&#10;Nội dung do AI tạo ra có thể không chính xác.">
            <a:extLst>
              <a:ext uri="{FF2B5EF4-FFF2-40B4-BE49-F238E27FC236}">
                <a16:creationId xmlns:a16="http://schemas.microsoft.com/office/drawing/2014/main" id="{8E7173A8-E3FA-223A-974A-40C15D1C4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873" y="4269441"/>
            <a:ext cx="2642446" cy="832875"/>
          </a:xfrm>
          <a:prstGeom prst="rect">
            <a:avLst/>
          </a:prstGeom>
        </p:spPr>
      </p:pic>
      <p:pic>
        <p:nvPicPr>
          <p:cNvPr id="6" name="Hình ảnh 5" descr="Ảnh có chứa Phông chữ, văn bản, số, thiết kế&#10;&#10;Nội dung do AI tạo ra có thể không chính xác.">
            <a:extLst>
              <a:ext uri="{FF2B5EF4-FFF2-40B4-BE49-F238E27FC236}">
                <a16:creationId xmlns:a16="http://schemas.microsoft.com/office/drawing/2014/main" id="{70A82334-09EF-3840-0912-38989A4C6A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125" y="2993989"/>
            <a:ext cx="3024948" cy="864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BDAAC5-C695-B378-120B-0D9B4596CB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1548" y="1813833"/>
            <a:ext cx="6779531" cy="3927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CA2A7-DCCA-6532-B42C-9AE3686DB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076" y="5719989"/>
            <a:ext cx="3190875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45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97F-03B6-278D-C1B3-077101042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7. </a:t>
            </a:r>
            <a:r>
              <a:rPr lang="en-US" err="1">
                <a:latin typeface="Lato"/>
                <a:ea typeface="Lato"/>
                <a:cs typeface="Lato"/>
              </a:rPr>
              <a:t>Kết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quả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đạt</a:t>
            </a:r>
            <a:r>
              <a:rPr lang="en-US">
                <a:latin typeface="Lato"/>
                <a:ea typeface="Lato"/>
                <a:cs typeface="Lato"/>
              </a:rPr>
              <a:t> </a:t>
            </a:r>
            <a:r>
              <a:rPr lang="en-US" err="1">
                <a:latin typeface="Lato"/>
                <a:ea typeface="Lato"/>
                <a:cs typeface="Lato"/>
              </a:rPr>
              <a:t>được</a:t>
            </a:r>
            <a:endParaRPr lang="en-US" err="1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C1F47B-5414-4B67-96FC-88D80E0BE6C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112" y="1059541"/>
            <a:ext cx="6908700" cy="4748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A816BE-9710-D811-298D-F72F7BAB1411}"/>
              </a:ext>
            </a:extLst>
          </p:cNvPr>
          <p:cNvSpPr txBox="1"/>
          <p:nvPr/>
        </p:nvSpPr>
        <p:spPr>
          <a:xfrm>
            <a:off x="6865257" y="1222829"/>
            <a:ext cx="5421086" cy="47089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buFont typeface=""/>
              <a:buChar char="•"/>
            </a:pP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Đường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dự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báo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bám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sát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rất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đường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thực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tế</a:t>
            </a:r>
            <a:r>
              <a:rPr lang="en-US" sz="250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xuyên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suốt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chu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kỳ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/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đêm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của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cả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7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(168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giờ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)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trong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tương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lai.</a:t>
            </a:r>
          </a:p>
          <a:p>
            <a:pPr marL="228600" lvl="1" indent="-228600">
              <a:buFont typeface=""/>
              <a:buChar char="•"/>
            </a:pPr>
            <a:r>
              <a:rPr lang="en-US" sz="250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mô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hình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học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được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biên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dao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nhiệt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ngày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đêm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thay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vì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dự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báo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một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đường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thẳng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phẳng</a:t>
            </a:r>
            <a:endParaRPr lang="en-US" sz="2500">
              <a:solidFill>
                <a:srgbClr val="2B2D31"/>
              </a:solidFill>
              <a:latin typeface="Calibri"/>
              <a:ea typeface="Calibri"/>
              <a:cs typeface="Calibri"/>
            </a:endParaRPr>
          </a:p>
          <a:p>
            <a:pPr marL="228600" lvl="1" indent="-228600">
              <a:buFont typeface=""/>
              <a:buChar char="•"/>
            </a:pP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MAE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đạt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mức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khá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tốt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miền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Nam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ổn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định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sai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số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thấp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(~1.67 °C),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và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ngay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cả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khu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vực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miền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Bắc/Tây Bắc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vốn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có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thời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tiết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biến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động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mạnh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thì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sai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số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cũng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chỉ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500" b="0" i="0" err="1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khoảng</a:t>
            </a:r>
            <a:r>
              <a:rPr lang="en-US" sz="2500" b="0" i="0">
                <a:solidFill>
                  <a:srgbClr val="2B2D31"/>
                </a:solidFill>
                <a:latin typeface="Calibri"/>
                <a:ea typeface="Calibri"/>
                <a:cs typeface="Calibri"/>
              </a:rPr>
              <a:t> ~2.17 °C.</a:t>
            </a:r>
            <a:endParaRPr lang="en-US" sz="250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0717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F4BCF-C4E9-A71F-0EE4-1449ED7BD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latin typeface="Lato"/>
                <a:ea typeface="Lato"/>
                <a:cs typeface="Lato"/>
              </a:rPr>
              <a:t>8. Demo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212D3-40EF-3A40-B141-0FE2CFD685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06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/>
          <p:cNvSpPr txBox="1"/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/>
              <a:t>THANK YOU 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Màn hình rộng</PresentationFormat>
  <Slides>11</Slides>
  <Notes>0</Notes>
  <HiddenSlides>0</HiddenSlides>
  <ScaleCrop>false</ScaleCrop>
  <HeadingPairs>
    <vt:vector size="4" baseType="variant">
      <vt:variant>
        <vt:lpstr>Chủ đề</vt:lpstr>
      </vt:variant>
      <vt:variant>
        <vt:i4>1</vt:i4>
      </vt:variant>
      <vt:variant>
        <vt:lpstr>Tiêu đề Bản chiếu</vt:lpstr>
      </vt:variant>
      <vt:variant>
        <vt:i4>11</vt:i4>
      </vt:variant>
    </vt:vector>
  </HeadingPairs>
  <TitlesOfParts>
    <vt:vector size="12" baseType="lpstr">
      <vt:lpstr>office theme</vt:lpstr>
      <vt:lpstr>Bản trình bày PowerPoint</vt:lpstr>
      <vt:lpstr>Mục lục</vt:lpstr>
      <vt:lpstr>1. Bài toán </vt:lpstr>
      <vt:lpstr>2. Các phương pháp nghiên cứu tương đương </vt:lpstr>
      <vt:lpstr>3. Mục tiêu</vt:lpstr>
      <vt:lpstr>4. Thu thập, tiền xử lý và lưu trữ dữ liệu </vt:lpstr>
      <vt:lpstr>5.Mô hình kiến trúc hệ thống </vt:lpstr>
      <vt:lpstr>6. Đánh giá: Các công thức đánh giá</vt:lpstr>
      <vt:lpstr>7. Kết quả đạt được</vt:lpstr>
      <vt:lpstr>8. Demo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6</cp:revision>
  <dcterms:created xsi:type="dcterms:W3CDTF">2013-07-15T20:26:40Z</dcterms:created>
  <dcterms:modified xsi:type="dcterms:W3CDTF">2026-06-21T03:55:32Z</dcterms:modified>
</cp:coreProperties>
</file>